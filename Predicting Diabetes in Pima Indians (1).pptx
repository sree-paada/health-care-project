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Montserrat" panose="00000500000000000000" pitchFamily="2" charset="0"/>
      <p:regular r:id="rId16"/>
      <p:bold r:id="rId17"/>
      <p:italic r:id="rId18"/>
      <p:boldItalic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27913D-55BE-4BD9-BE84-350444B37F90}">
  <a:tblStyle styleId="{3027913D-55BE-4BD9-BE84-350444B37F9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c8f25b99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ac8f25b99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321349"/>
            <a:ext cx="4953000" cy="474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71500" y="1277630"/>
            <a:ext cx="5200800" cy="27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Predicting Diabetes in the Pima Indian Population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357083"/>
            <a:ext cx="49530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A Machine Learning Approach to Minimizing Missed Diagnoses in High-Risk Groups.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5521374"/>
            <a:ext cx="4953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Presented by: </a:t>
            </a:r>
            <a:r>
              <a:rPr lang="en-US" sz="13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Sree Paada Reddy Pallikila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190500" y="0"/>
            <a:ext cx="1200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The Public Health Question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0" y="0"/>
            <a:ext cx="76200" cy="4953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0353675" y="6496050"/>
            <a:ext cx="14573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Public Health Context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1533525"/>
            <a:ext cx="5286375" cy="16002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1724025"/>
            <a:ext cx="4905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Core Question: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Can we utilize machine learning to accurately predict diabetes in high-risk populations using standard biometric data, while specifically minimizing missed cases?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1533525"/>
            <a:ext cx="47625" cy="1600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95325" y="34194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3419475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The Stake: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Early detection prevents chronic complications (kidney failure, blindness).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95325" y="42195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4219575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The Challenge: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Standard screening often misses early-stage insulin resistance.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95325" y="50196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62000" y="5019675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The Critical Error: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A </a:t>
            </a:r>
            <a:r>
              <a:rPr lang="en-US" sz="1500" b="1" i="0" u="none" strike="noStrike" cap="none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False Negative (FN)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—telling a sick patient they are healthy—is the most dangerous outcome.</a:t>
            </a:r>
            <a:endParaRPr/>
          </a:p>
        </p:txBody>
      </p:sp>
      <p:pic>
        <p:nvPicPr>
          <p:cNvPr id="107" name="Google Shape;10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7600" y="1679437"/>
            <a:ext cx="3027062" cy="363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051869"/>
            <a:ext cx="5286375" cy="117336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190500" y="0"/>
            <a:ext cx="1200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Literature Review &amp; Context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0" y="0"/>
            <a:ext cx="76200" cy="4953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10648950" y="6496050"/>
            <a:ext cx="11620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Literature Review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1832669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The Pima Indian Anomaly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2251769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The Pima Indians of Arizona have the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highest recorded prevalence of Type 2 diabetes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in the world.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334125" y="231457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Previous ML Limitations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334125" y="273367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Prior studies on this NIDDK dataset faced two main hurdles: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09625" y="3242369"/>
            <a:ext cx="48577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Roboto"/>
                <a:ea typeface="Roboto"/>
                <a:cs typeface="Roboto"/>
                <a:sym typeface="Roboto"/>
              </a:rPr>
              <a:t>50%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09625" y="372993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of adults over age 35 have diabetes.</a:t>
            </a: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6419850" y="318135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572250" y="31813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Performance Ceilings: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Most models plateau at ~75% accuracy due to sample size (768 records).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419850" y="393382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2.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572250" y="393382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Bias: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Models consistently favor the majority class (Healthy), leading to dangerously low Recall for diabetic patients.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/>
          <p:nvPr/>
        </p:nvSpPr>
        <p:spPr>
          <a:xfrm>
            <a:off x="190500" y="0"/>
            <a:ext cx="1200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Data Sources &amp; Variables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0" y="0"/>
            <a:ext cx="76200" cy="4953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19240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Source: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National Institute of Diabetes and Digestive and Kidney Diseases (NIDDK).</a:t>
            </a:r>
            <a:endParaRPr/>
          </a:p>
        </p:txBody>
      </p:sp>
      <p:graphicFrame>
        <p:nvGraphicFramePr>
          <p:cNvPr id="134" name="Google Shape;134;p16"/>
          <p:cNvGraphicFramePr/>
          <p:nvPr/>
        </p:nvGraphicFramePr>
        <p:xfrm>
          <a:off x="571500" y="2514600"/>
          <a:ext cx="11048975" cy="2724125"/>
        </p:xfrm>
        <a:graphic>
          <a:graphicData uri="http://schemas.openxmlformats.org/drawingml/2006/table">
            <a:tbl>
              <a:tblPr firstRow="1" bandRow="1">
                <a:noFill/>
                <a:tableStyleId>{3027913D-55BE-4BD9-BE84-350444B37F90}</a:tableStyleId>
              </a:tblPr>
              <a:tblGrid>
                <a:gridCol w="197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Variable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Examples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Rationale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Predictors (Features)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Glucose, BMI, Insulin, Blood Pressure, Skin Thickness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Standard clinical markers for metabolic syndrome.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Confounders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Age, Pregnancies, Diabetes Pedigree Function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Accounted for by including them as features and scaling data.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1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Target (Response)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Outcome (0 or 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Binary classification: 1 indicates positive diagnosis.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5" name="Google Shape;135;p16"/>
          <p:cNvSpPr/>
          <p:nvPr/>
        </p:nvSpPr>
        <p:spPr>
          <a:xfrm>
            <a:off x="571500" y="3833812"/>
            <a:ext cx="19795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2551062" y="3833812"/>
            <a:ext cx="4205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6756350" y="3833812"/>
            <a:ext cx="48641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71500" y="4681537"/>
            <a:ext cx="19795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2551062" y="4681537"/>
            <a:ext cx="4205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6756350" y="4681537"/>
            <a:ext cx="48641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71500" y="5224462"/>
            <a:ext cx="19795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2551062" y="5224462"/>
            <a:ext cx="4205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6756350" y="5224462"/>
            <a:ext cx="48641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/>
        </p:nvSpPr>
        <p:spPr>
          <a:xfrm>
            <a:off x="190500" y="0"/>
            <a:ext cx="1200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Data Quality Issues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0" y="0"/>
            <a:ext cx="76200" cy="4953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10858500" y="6496050"/>
            <a:ext cx="952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152400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The "Zero" Problem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71500" y="19431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Biological impossibility: Living patients cannot have 0 Blood Pressure, 0 BMI, or 0 Glucose.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71500" y="274320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Impact: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These zeros act as noise, confusing the model.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571500" y="342900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The Solution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71500" y="3848100"/>
            <a:ext cx="5286375" cy="16002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762000" y="4038600"/>
            <a:ext cx="4905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Median Imputation: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We replaced 0s with the median value of non-zero entries for each column. This preserved data distribution better than mean imputation or dropping rows.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71500" y="3848100"/>
            <a:ext cx="47625" cy="1600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/>
        </p:nvSpPr>
        <p:spPr>
          <a:xfrm>
            <a:off x="190500" y="0"/>
            <a:ext cx="1200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Addressing Class Imbalance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0" y="0"/>
            <a:ext cx="76200" cy="4953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7922" y="16764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6334125" y="195262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The Bias Problem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334125" y="23717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Original Split: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65% Healthy / 35% Diabetic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334125" y="26765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Models are "lazy"—they achieve high accuracy by simply predicting "Healthy" for everyone, missing actual cases.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334125" y="357187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The Fix: SMOTE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334125" y="399097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Synthetic Minority Over-sampling Technique: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334125" y="42957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We generated synthetic examples of diabetic patients in the training set. This forces the model to learn the characteristics of diabetes rather than just guessing the majority class.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042344"/>
            <a:ext cx="5334000" cy="1878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3042344"/>
            <a:ext cx="5334000" cy="187821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190500" y="0"/>
            <a:ext cx="1200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The Breakthrough: Feature Engineering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0" y="0"/>
            <a:ext cx="76200" cy="4953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10439400" y="6496050"/>
            <a:ext cx="1371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2286000" y="2051744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Raw data wasn't enough to break the 75% accuracy ceiling. We created two new medically relevant features that became critical predictors.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86990" y="3232844"/>
            <a:ext cx="515064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1. Insulin Resistance Index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809625" y="3651944"/>
            <a:ext cx="4905375" cy="495300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904875" y="3747194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Glucose / Insulin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809625" y="4242494"/>
            <a:ext cx="49053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Captures the body's struggle to utilize insulin, a clearer marker of Type 2 Diabetes than either variable alone.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401990" y="3232844"/>
            <a:ext cx="515064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2. High Risk Combo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6524625" y="3651944"/>
            <a:ext cx="4905375" cy="495300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6619875" y="3747194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IF (BMI &gt; 30 AND Age &gt; 40)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524625" y="4242494"/>
            <a:ext cx="49053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 binary flag identifying the highest-risk demographic group based on literature.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71750"/>
            <a:ext cx="355595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7950" y="2571750"/>
            <a:ext cx="355595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2571750"/>
            <a:ext cx="3556099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190500" y="0"/>
            <a:ext cx="1200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Model Selection Strategy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0" y="0"/>
            <a:ext cx="76200" cy="4953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71500" y="19812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We tested three distinct algorithms to find the optimal balance between Accuracy and Safety.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809625" y="2762250"/>
            <a:ext cx="328369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809625" y="3181350"/>
            <a:ext cx="3127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The Baseline.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Simple and interpretable, but failed to capture complex non-linear relationships.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809625" y="4191000"/>
            <a:ext cx="3127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Result: 27 Missed Cases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4556075" y="2762250"/>
            <a:ext cx="328369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Random Forest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4556075" y="3181350"/>
            <a:ext cx="31273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The Safety Net.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Excellent at Recall. It captured the most cases but had lower overall accuracy (more false alarms).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4556075" y="4495800"/>
            <a:ext cx="3127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Roboto"/>
                <a:ea typeface="Roboto"/>
                <a:cs typeface="Roboto"/>
                <a:sym typeface="Roboto"/>
              </a:rPr>
              <a:t>Result: 14 Missed Cases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8302525" y="2762250"/>
            <a:ext cx="328384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XGBoost + FE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8302525" y="3181350"/>
            <a:ext cx="3127474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The Champion.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Gradient boosting combined with our new features provided the best stability and safety.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8302525" y="4495800"/>
            <a:ext cx="3127474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Result: 11 Missed Cases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00225"/>
            <a:ext cx="5286375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190500" y="0"/>
            <a:ext cx="1200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Results: The Safety Leap</a:t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0" y="0"/>
            <a:ext cx="76200" cy="4953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44103" y="1800225"/>
            <a:ext cx="535066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Reduction in False Negatives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334125" y="203448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Why this matters</a:t>
            </a:r>
            <a:endParaRPr/>
          </a:p>
        </p:txBody>
      </p:sp>
      <p:graphicFrame>
        <p:nvGraphicFramePr>
          <p:cNvPr id="217" name="Google Shape;217;p21"/>
          <p:cNvGraphicFramePr/>
          <p:nvPr/>
        </p:nvGraphicFramePr>
        <p:xfrm>
          <a:off x="6334125" y="2548830"/>
          <a:ext cx="5286375" cy="2114525"/>
        </p:xfrm>
        <a:graphic>
          <a:graphicData uri="http://schemas.openxmlformats.org/drawingml/2006/table">
            <a:tbl>
              <a:tblPr firstRow="1" bandRow="1">
                <a:noFill/>
                <a:tableStyleId>{3027913D-55BE-4BD9-BE84-350444B37F90}</a:tableStyleId>
              </a:tblPr>
              <a:tblGrid>
                <a:gridCol w="157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3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Metric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Baseline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Final Model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Improvement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Accuracy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69.5%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74.7%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+5.2%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Recall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50.0%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79.6%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+29.6%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Missed Cases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-59%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8" name="Google Shape;218;p21"/>
          <p:cNvSpPr txBox="1"/>
          <p:nvPr/>
        </p:nvSpPr>
        <p:spPr>
          <a:xfrm>
            <a:off x="6334125" y="4853880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We reduced the critical error rate by nearly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60%</a:t>
            </a:r>
            <a:r>
              <a:rPr lang="en-US" sz="13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6334125" y="3563242"/>
            <a:ext cx="15787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7912893" y="3563242"/>
            <a:ext cx="10184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8931324" y="3563242"/>
            <a:ext cx="1273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10204400" y="3563242"/>
            <a:ext cx="14160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6334125" y="4106167"/>
            <a:ext cx="15787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7912893" y="4106167"/>
            <a:ext cx="10184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8931324" y="4106167"/>
            <a:ext cx="1273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10204400" y="4106167"/>
            <a:ext cx="14160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6334125" y="4649092"/>
            <a:ext cx="15787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7912893" y="4649092"/>
            <a:ext cx="10184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8931324" y="4649092"/>
            <a:ext cx="1273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10204400" y="4649092"/>
            <a:ext cx="14160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/>
        </p:nvSpPr>
        <p:spPr>
          <a:xfrm>
            <a:off x="190500" y="0"/>
            <a:ext cx="1200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Critical Evaluation</a:t>
            </a:r>
            <a:endParaRPr/>
          </a:p>
        </p:txBody>
      </p:sp>
      <p:sp>
        <p:nvSpPr>
          <p:cNvPr id="236" name="Google Shape;236;p22"/>
          <p:cNvSpPr/>
          <p:nvPr/>
        </p:nvSpPr>
        <p:spPr>
          <a:xfrm>
            <a:off x="0" y="0"/>
            <a:ext cx="76200" cy="4953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571500" y="260985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Strengths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6334125" y="260985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Limitations &amp; Future Work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504825" y="30289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571500" y="30289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Safety First: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Prioritized Recall over Precision. It is better to flag a healthy person (False Positive) than miss a sick one.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504825" y="36385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571500" y="36385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Interpretability: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Engineered features align with medical literature (Insulin Resistance).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504825" y="42481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571500" y="424815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Robustness: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Cross-validation ensures results aren't a fluke.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6267450" y="30289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6334125" y="30289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The Performance Ceiling: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Despite advanced tuning, Accuracy capped at ~75%. This suggests the dataset lacks variables (e.g., genetic markers, diet logs) needed for higher precision.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6267450" y="39433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6334125" y="394335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Sample Size: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768 records is small for deep learning.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6267450" y="42481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6334125" y="424815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Future: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External validation on non-Pima datasets is needed.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3" descr="image.png"/>
          <p:cNvPicPr preferRelativeResize="0"/>
          <p:nvPr/>
        </p:nvPicPr>
        <p:blipFill rotWithShape="1">
          <a:blip r:embed="rId4">
            <a:alphaModFix/>
          </a:blip>
          <a:srcRect l="-113730" t="-35720" r="113730" b="35720"/>
          <a:stretch/>
        </p:blipFill>
        <p:spPr>
          <a:xfrm>
            <a:off x="1034625" y="2735758"/>
            <a:ext cx="4953000" cy="138648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3"/>
          <p:cNvSpPr txBox="1"/>
          <p:nvPr/>
        </p:nvSpPr>
        <p:spPr>
          <a:xfrm>
            <a:off x="180650" y="8"/>
            <a:ext cx="5000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532950" y="1206508"/>
            <a:ext cx="4953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238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Roboto"/>
              <a:buChar char="●"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By moving beyond simple accuracy and focusing on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feature engineering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class balancing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, we developed a model that is clinically viable.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532950" y="5005091"/>
            <a:ext cx="4953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238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Roboto"/>
              <a:buChar char="●"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This translates directly to earlier intervention and better long-term health outcomes for the Pima community.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532950" y="3224508"/>
            <a:ext cx="45243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3337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50"/>
              <a:buFont typeface="Roboto"/>
              <a:buChar char="●"/>
            </a:pP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Impact: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For every 100 diabetic patients screened, our model identifies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30 more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patients than the baseline model.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/>
          <p:nvPr/>
        </p:nvSpPr>
        <p:spPr>
          <a:xfrm>
            <a:off x="4910851" y="2232719"/>
            <a:ext cx="2370296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Q &amp; A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4157662" y="3261419"/>
            <a:ext cx="38766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272" name="Google Shape;272;p2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1143000" y="2399407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1143000" y="3184177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1143000" y="3968948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1143000" y="4753719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17735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 txBox="1"/>
          <p:nvPr/>
        </p:nvSpPr>
        <p:spPr>
          <a:xfrm>
            <a:off x="2238375" y="1767036"/>
            <a:ext cx="8810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https://pub.mdpi-res.com/nanomaterials/nanomaterials-15-00895/article_deploy/html/images/nanomaterials-15-00895-ag-550.jpg?1749626317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2238375" y="2012751"/>
            <a:ext cx="8810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www.mdpi.com</a:t>
            </a:r>
            <a:endParaRPr/>
          </a:p>
        </p:txBody>
      </p:sp>
      <p:pic>
        <p:nvPicPr>
          <p:cNvPr id="280" name="Google Shape;28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00" y="25583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 txBox="1"/>
          <p:nvPr/>
        </p:nvSpPr>
        <p:spPr>
          <a:xfrm>
            <a:off x="2238375" y="2551807"/>
            <a:ext cx="8810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https://www.hopkinsmedicine.org/-/media/images/health/1_-conditions/diabetes/diabetesinfographic.jpg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2238375" y="2797522"/>
            <a:ext cx="8810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www.hopkinsmedicine.org</a:t>
            </a:r>
            <a:endParaRPr/>
          </a:p>
        </p:txBody>
      </p:sp>
      <p:pic>
        <p:nvPicPr>
          <p:cNvPr id="283" name="Google Shape;28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3000" y="334312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2238375" y="3336577"/>
            <a:ext cx="8810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https://i.ytimg.com/vi/3Gnm6b9WxbY/maxresdefault.jpg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2238375" y="3582292"/>
            <a:ext cx="8810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www.youtube.com</a:t>
            </a:r>
            <a:endParaRPr/>
          </a:p>
        </p:txBody>
      </p:sp>
      <p:pic>
        <p:nvPicPr>
          <p:cNvPr id="286" name="Google Shape;286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3000" y="412789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2238375" y="4121348"/>
            <a:ext cx="8810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https://miro.medium.com/1*wpmPLh2zRCKfvVh5J4hv9Q.png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2238375" y="4367063"/>
            <a:ext cx="8810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medium.com</a:t>
            </a:r>
            <a:endParaRPr/>
          </a:p>
        </p:txBody>
      </p:sp>
      <p:pic>
        <p:nvPicPr>
          <p:cNvPr id="289" name="Google Shape;289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43000" y="49126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5"/>
          <p:cNvSpPr txBox="1"/>
          <p:nvPr/>
        </p:nvSpPr>
        <p:spPr>
          <a:xfrm>
            <a:off x="2238375" y="4906119"/>
            <a:ext cx="8810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https://mlcmedicalconsulting.com/wp-content/uploads/2022/12/iStock-1373659740.jpg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2238375" y="5151834"/>
            <a:ext cx="8810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mlcmedicalconsulting.com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974</Words>
  <Application>Microsoft Office PowerPoint</Application>
  <PresentationFormat>Widescreen</PresentationFormat>
  <Paragraphs>122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Roboto</vt:lpstr>
      <vt:lpstr>Calibri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Paada</cp:lastModifiedBy>
  <cp:revision>1</cp:revision>
  <dcterms:modified xsi:type="dcterms:W3CDTF">2025-12-04T04:02:05Z</dcterms:modified>
</cp:coreProperties>
</file>